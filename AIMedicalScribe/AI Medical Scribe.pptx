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971" r:id="rId1"/>
  </p:sldMasterIdLst>
  <p:notesMasterIdLst>
    <p:notesMasterId r:id="rId11"/>
  </p:notesMasterIdLst>
  <p:sldIdLst>
    <p:sldId id="258" r:id="rId2"/>
    <p:sldId id="261" r:id="rId3"/>
    <p:sldId id="331" r:id="rId4"/>
    <p:sldId id="334" r:id="rId5"/>
    <p:sldId id="332" r:id="rId6"/>
    <p:sldId id="340" r:id="rId7"/>
    <p:sldId id="339" r:id="rId8"/>
    <p:sldId id="337" r:id="rId9"/>
    <p:sldId id="304" r:id="rId10"/>
  </p:sldIdLst>
  <p:sldSz cx="9144000" cy="6858000" type="screen4x3"/>
  <p:notesSz cx="7053263" cy="9309100"/>
  <p:embeddedFontLst>
    <p:embeddedFont>
      <p:font typeface="Poppins SemiBold" panose="020B0604020202020204" charset="0"/>
      <p:regular r:id="rId12"/>
      <p:bold r:id="rId13"/>
      <p:italic r:id="rId14"/>
      <p:boldItalic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Wingdings 3" panose="05040102010807070707" pitchFamily="18" charset="2"/>
      <p:regular r:id="rId20"/>
    </p:embeddedFont>
    <p:embeddedFont>
      <p:font typeface="Trebuchet MS" panose="020B0603020202020204" pitchFamily="34" charset="0"/>
      <p:regular r:id="rId21"/>
      <p:bold r:id="rId22"/>
      <p:italic r:id="rId23"/>
      <p:boldItalic r:id="rId2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70" userDrawn="1">
          <p15:clr>
            <a:srgbClr val="A4A3A4"/>
          </p15:clr>
        </p15:guide>
        <p15:guide id="2" pos="2988" userDrawn="1">
          <p15:clr>
            <a:srgbClr val="A4A3A4"/>
          </p15:clr>
        </p15:guide>
        <p15:guide id="3" orient="horz" pos="1094" userDrawn="1">
          <p15:clr>
            <a:srgbClr val="A4A3A4"/>
          </p15:clr>
        </p15:guide>
        <p15:guide id="4" pos="249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2932">
          <p15:clr>
            <a:srgbClr val="A4A3A4"/>
          </p15:clr>
        </p15:guide>
        <p15:guide id="4" pos="2222">
          <p15:clr>
            <a:srgbClr val="A4A3A4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96" roundtripDataSignature="AMtx7mi1JmPN4o84AxW1OWHr8yuR1KjM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BCD0"/>
    <a:srgbClr val="9C1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1380" y="36"/>
      </p:cViewPr>
      <p:guideLst>
        <p:guide orient="horz" pos="1570"/>
        <p:guide pos="2988"/>
        <p:guide orient="horz" pos="1094"/>
        <p:guide pos="249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  <p:guide orient="horz" pos="2932"/>
        <p:guide pos="222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9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97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96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9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10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56414" cy="465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75" tIns="46725" rIns="93475" bIns="467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95217" y="0"/>
            <a:ext cx="3056414" cy="465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75" tIns="46725" rIns="93475" bIns="4672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98563" y="698500"/>
            <a:ext cx="4656137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5327" y="4421823"/>
            <a:ext cx="5642610" cy="4189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75" tIns="46725" rIns="93475" bIns="467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842029"/>
            <a:ext cx="3056414" cy="465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75" tIns="46725" rIns="93475" bIns="467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95217" y="8842029"/>
            <a:ext cx="3056414" cy="465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75" tIns="46725" rIns="93475" bIns="4672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3:notes"/>
          <p:cNvSpPr txBox="1">
            <a:spLocks noGrp="1"/>
          </p:cNvSpPr>
          <p:nvPr>
            <p:ph type="body" idx="1"/>
          </p:nvPr>
        </p:nvSpPr>
        <p:spPr>
          <a:xfrm>
            <a:off x="705327" y="4421823"/>
            <a:ext cx="5642610" cy="4189095"/>
          </a:xfrm>
          <a:prstGeom prst="rect">
            <a:avLst/>
          </a:prstGeom>
        </p:spPr>
        <p:txBody>
          <a:bodyPr spcFirstLastPara="1" wrap="square" lIns="93475" tIns="46725" rIns="93475" bIns="46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6" name="Google Shape;59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8563" y="698500"/>
            <a:ext cx="4656137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6:notes"/>
          <p:cNvSpPr txBox="1">
            <a:spLocks noGrp="1"/>
          </p:cNvSpPr>
          <p:nvPr>
            <p:ph type="body" idx="1"/>
          </p:nvPr>
        </p:nvSpPr>
        <p:spPr>
          <a:xfrm>
            <a:off x="705327" y="4421823"/>
            <a:ext cx="5642610" cy="4189095"/>
          </a:xfrm>
          <a:prstGeom prst="rect">
            <a:avLst/>
          </a:prstGeom>
        </p:spPr>
        <p:txBody>
          <a:bodyPr spcFirstLastPara="1" wrap="square" lIns="93475" tIns="46725" rIns="93475" bIns="46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8563" y="698500"/>
            <a:ext cx="4656137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6:notes"/>
          <p:cNvSpPr txBox="1">
            <a:spLocks noGrp="1"/>
          </p:cNvSpPr>
          <p:nvPr>
            <p:ph type="body" idx="1"/>
          </p:nvPr>
        </p:nvSpPr>
        <p:spPr>
          <a:xfrm>
            <a:off x="705327" y="4421823"/>
            <a:ext cx="5642610" cy="4189095"/>
          </a:xfrm>
          <a:prstGeom prst="rect">
            <a:avLst/>
          </a:prstGeom>
        </p:spPr>
        <p:txBody>
          <a:bodyPr spcFirstLastPara="1" wrap="square" lIns="93475" tIns="46725" rIns="93475" bIns="46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8563" y="698500"/>
            <a:ext cx="4656137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976285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6:notes"/>
          <p:cNvSpPr txBox="1">
            <a:spLocks noGrp="1"/>
          </p:cNvSpPr>
          <p:nvPr>
            <p:ph type="body" idx="1"/>
          </p:nvPr>
        </p:nvSpPr>
        <p:spPr>
          <a:xfrm>
            <a:off x="705327" y="4421823"/>
            <a:ext cx="5642610" cy="4189095"/>
          </a:xfrm>
          <a:prstGeom prst="rect">
            <a:avLst/>
          </a:prstGeom>
        </p:spPr>
        <p:txBody>
          <a:bodyPr spcFirstLastPara="1" wrap="square" lIns="93475" tIns="46725" rIns="93475" bIns="46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8563" y="698500"/>
            <a:ext cx="4656137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479682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6:notes"/>
          <p:cNvSpPr txBox="1">
            <a:spLocks noGrp="1"/>
          </p:cNvSpPr>
          <p:nvPr>
            <p:ph type="body" idx="1"/>
          </p:nvPr>
        </p:nvSpPr>
        <p:spPr>
          <a:xfrm>
            <a:off x="705327" y="4421823"/>
            <a:ext cx="5642610" cy="4189095"/>
          </a:xfrm>
          <a:prstGeom prst="rect">
            <a:avLst/>
          </a:prstGeom>
        </p:spPr>
        <p:txBody>
          <a:bodyPr spcFirstLastPara="1" wrap="square" lIns="93475" tIns="46725" rIns="93475" bIns="46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8563" y="698500"/>
            <a:ext cx="4656137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379404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6:notes"/>
          <p:cNvSpPr txBox="1">
            <a:spLocks noGrp="1"/>
          </p:cNvSpPr>
          <p:nvPr>
            <p:ph type="body" idx="1"/>
          </p:nvPr>
        </p:nvSpPr>
        <p:spPr>
          <a:xfrm>
            <a:off x="705327" y="4421823"/>
            <a:ext cx="5642610" cy="4189095"/>
          </a:xfrm>
          <a:prstGeom prst="rect">
            <a:avLst/>
          </a:prstGeom>
        </p:spPr>
        <p:txBody>
          <a:bodyPr spcFirstLastPara="1" wrap="square" lIns="93475" tIns="46725" rIns="93475" bIns="46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8563" y="698500"/>
            <a:ext cx="4656137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175170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6:notes"/>
          <p:cNvSpPr txBox="1">
            <a:spLocks noGrp="1"/>
          </p:cNvSpPr>
          <p:nvPr>
            <p:ph type="body" idx="1"/>
          </p:nvPr>
        </p:nvSpPr>
        <p:spPr>
          <a:xfrm>
            <a:off x="705327" y="4421823"/>
            <a:ext cx="5642610" cy="4189095"/>
          </a:xfrm>
          <a:prstGeom prst="rect">
            <a:avLst/>
          </a:prstGeom>
        </p:spPr>
        <p:txBody>
          <a:bodyPr spcFirstLastPara="1" wrap="square" lIns="93475" tIns="46725" rIns="93475" bIns="46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8563" y="698500"/>
            <a:ext cx="4656137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87571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6:notes"/>
          <p:cNvSpPr txBox="1">
            <a:spLocks noGrp="1"/>
          </p:cNvSpPr>
          <p:nvPr>
            <p:ph type="body" idx="1"/>
          </p:nvPr>
        </p:nvSpPr>
        <p:spPr>
          <a:xfrm>
            <a:off x="705327" y="4421823"/>
            <a:ext cx="5642610" cy="4189095"/>
          </a:xfrm>
          <a:prstGeom prst="rect">
            <a:avLst/>
          </a:prstGeom>
        </p:spPr>
        <p:txBody>
          <a:bodyPr spcFirstLastPara="1" wrap="square" lIns="93475" tIns="46725" rIns="93475" bIns="46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8563" y="698500"/>
            <a:ext cx="4656137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240137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4" name="Google Shape;2134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98563" y="698500"/>
            <a:ext cx="4656137" cy="34909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35" name="Google Shape;2135;p49:notes"/>
          <p:cNvSpPr txBox="1">
            <a:spLocks noGrp="1"/>
          </p:cNvSpPr>
          <p:nvPr>
            <p:ph type="body" idx="1"/>
          </p:nvPr>
        </p:nvSpPr>
        <p:spPr>
          <a:xfrm>
            <a:off x="705327" y="4421823"/>
            <a:ext cx="5642610" cy="4189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475" tIns="46725" rIns="93475" bIns="467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01/08/2026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29397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01/08/2026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14933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01/08/2026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45569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01/08/2026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160258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01/08/2026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86810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01/08/2026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5480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01/08/2026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292229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01/08/2026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088001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01/08/2026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773905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01/08/2026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310854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01/08/2026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290701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01/08/2026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85115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01/08/2026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8606563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01/08/2026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80915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01/08/2026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154666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01/08/2026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3446208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ubtitle Only">
  <p:cSld name="1_Title Subtitle Only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64"/>
          <p:cNvSpPr txBox="1">
            <a:spLocks noGrp="1"/>
          </p:cNvSpPr>
          <p:nvPr>
            <p:ph type="title"/>
          </p:nvPr>
        </p:nvSpPr>
        <p:spPr>
          <a:xfrm>
            <a:off x="685800" y="279962"/>
            <a:ext cx="7772400" cy="817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ctr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5755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01/08/2026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575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2" r:id="rId1"/>
    <p:sldLayoutId id="2147483973" r:id="rId2"/>
    <p:sldLayoutId id="2147483974" r:id="rId3"/>
    <p:sldLayoutId id="2147483975" r:id="rId4"/>
    <p:sldLayoutId id="2147483976" r:id="rId5"/>
    <p:sldLayoutId id="2147483977" r:id="rId6"/>
    <p:sldLayoutId id="2147483978" r:id="rId7"/>
    <p:sldLayoutId id="2147483979" r:id="rId8"/>
    <p:sldLayoutId id="2147483980" r:id="rId9"/>
    <p:sldLayoutId id="2147483981" r:id="rId10"/>
    <p:sldLayoutId id="2147483982" r:id="rId11"/>
    <p:sldLayoutId id="2147483983" r:id="rId12"/>
    <p:sldLayoutId id="2147483984" r:id="rId13"/>
    <p:sldLayoutId id="2147483985" r:id="rId14"/>
    <p:sldLayoutId id="2147483986" r:id="rId15"/>
    <p:sldLayoutId id="2147483987" r:id="rId16"/>
    <p:sldLayoutId id="2147483988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3"/>
          <p:cNvSpPr txBox="1">
            <a:spLocks noGrp="1"/>
          </p:cNvSpPr>
          <p:nvPr>
            <p:ph type="title"/>
          </p:nvPr>
        </p:nvSpPr>
        <p:spPr>
          <a:xfrm>
            <a:off x="707392" y="908421"/>
            <a:ext cx="6179815" cy="61317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pPr lvl="0" algn="l">
              <a:buClr>
                <a:schemeClr val="lt1"/>
              </a:buClr>
              <a:buSzPts val="4000"/>
            </a:pPr>
            <a:r>
              <a:rPr lang="en-US" sz="2400" b="1" dirty="0">
                <a:solidFill>
                  <a:srgbClr val="7030A0"/>
                </a:solidFill>
              </a:rPr>
              <a:t>GenAI Based RCM Front Office Operations: Patient Doctor Interactions</a:t>
            </a:r>
            <a:endParaRPr sz="2400" b="1" dirty="0">
              <a:solidFill>
                <a:srgbClr val="7030A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07392" y="1924738"/>
            <a:ext cx="41986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rgbClr val="7030A0"/>
                </a:solidFill>
              </a:rPr>
              <a:t>Domain: Healthcare </a:t>
            </a:r>
            <a:endParaRPr lang="en-US" sz="1200" b="1" dirty="0" smtClean="0">
              <a:solidFill>
                <a:srgbClr val="7030A0"/>
              </a:solidFill>
            </a:endParaRPr>
          </a:p>
          <a:p>
            <a:endParaRPr lang="en-US" sz="1200" b="1" dirty="0">
              <a:solidFill>
                <a:srgbClr val="7030A0"/>
              </a:solidFill>
            </a:endParaRPr>
          </a:p>
          <a:p>
            <a:r>
              <a:rPr lang="en-US" sz="1200" b="1" dirty="0" smtClean="0">
                <a:solidFill>
                  <a:srgbClr val="7030A0"/>
                </a:solidFill>
              </a:rPr>
              <a:t>AI </a:t>
            </a:r>
            <a:r>
              <a:rPr lang="en-US" sz="1200" b="1" dirty="0">
                <a:solidFill>
                  <a:srgbClr val="7030A0"/>
                </a:solidFill>
              </a:rPr>
              <a:t>Medical Scribe/Ambient digital scribe</a:t>
            </a:r>
            <a:endParaRPr lang="en-IN" sz="1350" b="1" dirty="0">
              <a:solidFill>
                <a:srgbClr val="7030A0"/>
              </a:solidFill>
            </a:endParaRPr>
          </a:p>
        </p:txBody>
      </p:sp>
      <p:sp>
        <p:nvSpPr>
          <p:cNvPr id="7" name="Google Shape;600;p3"/>
          <p:cNvSpPr txBox="1">
            <a:spLocks/>
          </p:cNvSpPr>
          <p:nvPr/>
        </p:nvSpPr>
        <p:spPr>
          <a:xfrm>
            <a:off x="1588770" y="3570341"/>
            <a:ext cx="6179815" cy="2464699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vert="horz" wrap="square" lIns="0" tIns="0" rIns="0" bIns="0" rtlCol="0" anchor="ctr" anchorCtr="0">
            <a:noAutofit/>
          </a:bodyPr>
          <a:lstStyle>
            <a:lvl1pPr lvl="0" algn="ctr" defTabSz="457200" rtl="0" eaLnBrk="1" latinLnBrk="0" hangingPunct="1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lvl="1" eaLnBrk="1" hangingPunct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2"/>
                </a:solidFill>
              </a:defRPr>
            </a:lvl2pPr>
            <a:lvl3pPr lvl="2" eaLnBrk="1" hangingPunct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2"/>
                </a:solidFill>
              </a:defRPr>
            </a:lvl3pPr>
            <a:lvl4pPr lvl="3" eaLnBrk="1" hangingPunct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2"/>
                </a:solidFill>
              </a:defRPr>
            </a:lvl4pPr>
            <a:lvl5pPr lvl="4" eaLnBrk="1" hangingPunct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2"/>
                </a:solidFill>
              </a:defRPr>
            </a:lvl5pPr>
            <a:lvl6pPr lvl="5" eaLnBrk="1" hangingPunct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2"/>
                </a:solidFill>
              </a:defRPr>
            </a:lvl6pPr>
            <a:lvl7pPr lvl="6" eaLnBrk="1" hangingPunct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2"/>
                </a:solidFill>
              </a:defRPr>
            </a:lvl7pPr>
            <a:lvl8pPr lvl="7" eaLnBrk="1" hangingPunct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2"/>
                </a:solidFill>
              </a:defRPr>
            </a:lvl8pPr>
            <a:lvl9pPr lvl="8" eaLnBrk="1" hangingPunct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2"/>
                </a:solidFill>
              </a:defRPr>
            </a:lvl9pPr>
          </a:lstStyle>
          <a:p>
            <a:pPr algn="l">
              <a:buClr>
                <a:schemeClr val="lt1"/>
              </a:buClr>
              <a:buSzPts val="4000"/>
            </a:pPr>
            <a:endParaRPr lang="en-US" sz="2400" b="1" dirty="0" smtClean="0">
              <a:solidFill>
                <a:schemeClr val="accent5"/>
              </a:solidFill>
            </a:endParaRPr>
          </a:p>
          <a:p>
            <a:pPr algn="l">
              <a:buClr>
                <a:schemeClr val="lt1"/>
              </a:buClr>
              <a:buSzPts val="4000"/>
            </a:pPr>
            <a:endParaRPr lang="en-US" sz="2400" b="1" dirty="0">
              <a:solidFill>
                <a:schemeClr val="accent5"/>
              </a:solidFill>
            </a:endParaRPr>
          </a:p>
          <a:p>
            <a:pPr algn="l">
              <a:buClr>
                <a:schemeClr val="lt1"/>
              </a:buClr>
              <a:buSzPts val="4000"/>
            </a:pPr>
            <a:endParaRPr lang="en-US" sz="2400" b="1" dirty="0" smtClean="0">
              <a:solidFill>
                <a:schemeClr val="accent5"/>
              </a:solidFill>
            </a:endParaRPr>
          </a:p>
          <a:p>
            <a:pPr algn="l">
              <a:buClr>
                <a:schemeClr val="lt1"/>
              </a:buClr>
              <a:buSzPts val="4000"/>
            </a:pPr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</a:rPr>
              <a:t>Team Name: SSInnovators</a:t>
            </a:r>
          </a:p>
          <a:p>
            <a:pPr algn="l">
              <a:buClr>
                <a:schemeClr val="lt1"/>
              </a:buClr>
              <a:buSzPts val="4000"/>
            </a:pPr>
            <a:endParaRPr lang="en-US" sz="2400" b="1" dirty="0" smtClean="0">
              <a:solidFill>
                <a:srgbClr val="7030A0"/>
              </a:solidFill>
            </a:endParaRPr>
          </a:p>
          <a:p>
            <a:pPr>
              <a:buClr>
                <a:schemeClr val="lt1"/>
              </a:buClr>
              <a:buSzPts val="4000"/>
            </a:pPr>
            <a:r>
              <a:rPr lang="en-US" sz="2400" b="1" dirty="0" smtClean="0">
                <a:solidFill>
                  <a:srgbClr val="7030A0"/>
                </a:solidFill>
              </a:rPr>
              <a:t>Presented By</a:t>
            </a:r>
          </a:p>
          <a:p>
            <a:pPr>
              <a:buClr>
                <a:schemeClr val="lt1"/>
              </a:buClr>
              <a:buSzPts val="4000"/>
            </a:pPr>
            <a:endParaRPr lang="en-US" sz="2400" b="1" dirty="0">
              <a:solidFill>
                <a:srgbClr val="7030A0"/>
              </a:solidFill>
            </a:endParaRPr>
          </a:p>
          <a:p>
            <a:pPr>
              <a:buClr>
                <a:schemeClr val="lt1"/>
              </a:buClr>
              <a:buSzPts val="4000"/>
            </a:pPr>
            <a:r>
              <a:rPr lang="en-US" sz="2400" b="1" dirty="0" smtClean="0">
                <a:solidFill>
                  <a:srgbClr val="7030A0"/>
                </a:solidFill>
              </a:rPr>
              <a:t>Satya Padmanabhan Iyer</a:t>
            </a:r>
            <a:endParaRPr lang="en-US" sz="2400" b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76801" y="766306"/>
            <a:ext cx="7173172" cy="1962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350" dirty="0">
                <a:solidFill>
                  <a:srgbClr val="7030A0"/>
                </a:solidFill>
              </a:rPr>
              <a:t>Pr</a:t>
            </a:r>
            <a:r>
              <a:rPr lang="en-IN" sz="1400" dirty="0">
                <a:solidFill>
                  <a:srgbClr val="7030A0"/>
                </a:solidFill>
              </a:rPr>
              <a:t>oblem Statement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providers spend excessive time on manual documentation, reducing patient engagement.</a:t>
            </a:r>
          </a:p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Inefficient coding and claim preparation lead to revenue leakage and delayed reimbursements.</a:t>
            </a:r>
          </a:p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automation in front-office operations results in administrative overhead and human errors</a:t>
            </a:r>
            <a:r>
              <a:rPr lang="en-US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real-time, accurate, and compliant documentation from patient–doctor conversations.</a:t>
            </a:r>
          </a:p>
          <a:p>
            <a:endParaRPr lang="en-US" sz="1350" dirty="0"/>
          </a:p>
          <a:p>
            <a:endParaRPr lang="en-IN" sz="1350" dirty="0"/>
          </a:p>
        </p:txBody>
      </p:sp>
      <p:sp>
        <p:nvSpPr>
          <p:cNvPr id="9" name="TextBox 8"/>
          <p:cNvSpPr txBox="1"/>
          <p:nvPr/>
        </p:nvSpPr>
        <p:spPr>
          <a:xfrm>
            <a:off x="676801" y="2528199"/>
            <a:ext cx="7173172" cy="1985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dirty="0">
                <a:solidFill>
                  <a:srgbClr val="7030A0"/>
                </a:solidFill>
              </a:rPr>
              <a:t>Proposed Solution</a:t>
            </a:r>
            <a:endParaRPr lang="en-US" sz="1400" dirty="0">
              <a:solidFill>
                <a:srgbClr val="7030A0"/>
              </a:solidFill>
            </a:endParaRPr>
          </a:p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AI-based medical scribe that transcribes and understands patient–doctor conversations.</a:t>
            </a:r>
          </a:p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generation of structured medical documentation with coding and compliance review.</a:t>
            </a:r>
          </a:p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with RCM workflows to speed up claims and minimize denials.</a:t>
            </a:r>
          </a:p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multiple autonomous AI agents to perform specialized tasks collaboratively.</a:t>
            </a:r>
          </a:p>
          <a:p>
            <a:endParaRPr lang="en-US" sz="1350" dirty="0"/>
          </a:p>
          <a:p>
            <a:endParaRPr lang="en-IN" sz="1350" dirty="0"/>
          </a:p>
        </p:txBody>
      </p:sp>
      <p:sp>
        <p:nvSpPr>
          <p:cNvPr id="10" name="TextBox 9"/>
          <p:cNvSpPr txBox="1"/>
          <p:nvPr/>
        </p:nvSpPr>
        <p:spPr>
          <a:xfrm>
            <a:off x="6038914" y="0"/>
            <a:ext cx="4198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AI Medical Scribe/Ambient digital scribe</a:t>
            </a:r>
            <a:endParaRPr lang="en-IN" sz="135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772051" y="4313175"/>
            <a:ext cx="6982671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Benefits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transcription and structured documentation improve provider efficiency.</a:t>
            </a:r>
          </a:p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coding accuracy reduces claim denials and accelerates reimbursement.</a:t>
            </a:r>
          </a:p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Compliance validation ensures HIPAA adherence and quality assurance.</a:t>
            </a:r>
          </a:p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Scalable, modular agent-based design adaptable to different specialties.</a:t>
            </a:r>
          </a:p>
          <a:p>
            <a:pPr marL="214313" indent="-214313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patient experience through reduced provider administrative load.</a:t>
            </a:r>
          </a:p>
          <a:p>
            <a:endParaRPr lang="en-US" sz="1350" dirty="0"/>
          </a:p>
          <a:p>
            <a:endParaRPr lang="en-IN" sz="13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866" y="269518"/>
            <a:ext cx="7772400" cy="817561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Agentic AI </a:t>
            </a:r>
            <a:r>
              <a:rPr lang="en-US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 With Agent</a:t>
            </a:r>
            <a:endParaRPr lang="en-US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71701" y="2282190"/>
            <a:ext cx="18473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sz="1350" dirty="0"/>
          </a:p>
        </p:txBody>
      </p:sp>
      <p:sp>
        <p:nvSpPr>
          <p:cNvPr id="3" name="Rectangle 2"/>
          <p:cNvSpPr/>
          <p:nvPr/>
        </p:nvSpPr>
        <p:spPr>
          <a:xfrm>
            <a:off x="2356432" y="1131995"/>
            <a:ext cx="6544448" cy="60170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IN" sz="1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voice_to_text_task</a:t>
            </a:r>
            <a:endParaRPr lang="en-IN" sz="14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IN" sz="1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PipelineState(source_audio)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IN" sz="1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Actions</a:t>
            </a:r>
            <a:r>
              <a:rPr lang="en-IN" sz="1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-Converts raw clinical audio (patient–provider conversation) into transcript text.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-Extracts timestamps and word-level confidence using an ASR (Automatic Speech Recognition) model.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-Populates raw transcript and save under transcript folder 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transcript, state.logs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IN" sz="1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clinical_understanding_task</a:t>
            </a:r>
            <a:endParaRPr lang="en-IN" sz="14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IN" sz="1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-IN" sz="1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state.transcript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IN" sz="1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Actions</a:t>
            </a:r>
            <a:r>
              <a:rPr lang="en-IN" sz="1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-Calls CrewAI clinical_understanding_agent to interpret the transcript into structured context.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-Extracts symptoms, conditions, diagnoses, assessment, and plan (SOAP-style).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-Generates ClinicalUnderstandingData with reasoning and confidence scores.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IN" sz="1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IN" sz="1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state.clinical_understanding, state.logs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IN" sz="1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rcm_coding_task</a:t>
            </a:r>
            <a:endParaRPr lang="en-IN" sz="14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 </a:t>
            </a:r>
            <a:r>
              <a:rPr lang="en-IN" sz="1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-IN" sz="1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state.clinical_understanding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IN" sz="1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Actions</a:t>
            </a:r>
            <a:r>
              <a:rPr lang="en-IN" sz="1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-Runs CrewAI rcm_coding_agent to assign medical codes.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-Maps findings to ICD-10 (diagnosis) and CPT (procedure) codes with appropriate modifiers.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-Adds coder justification and confidence metadata.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IN" sz="1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IN" sz="1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state.rcm_coding, state.logs.</a:t>
            </a:r>
          </a:p>
          <a:p>
            <a:r>
              <a:rPr lang="en-I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050" dirty="0"/>
          </a:p>
        </p:txBody>
      </p:sp>
      <p:sp>
        <p:nvSpPr>
          <p:cNvPr id="4" name="TextBox 3"/>
          <p:cNvSpPr txBox="1"/>
          <p:nvPr/>
        </p:nvSpPr>
        <p:spPr>
          <a:xfrm>
            <a:off x="155866" y="1680392"/>
            <a:ext cx="2221574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7030A0"/>
                </a:solidFill>
              </a:rPr>
              <a:t>WORKFLOW</a:t>
            </a:r>
          </a:p>
          <a:p>
            <a:pPr algn="ctr"/>
            <a:r>
              <a:rPr lang="en-US" sz="1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  <a:endParaRPr lang="en-US" sz="16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↓</a:t>
            </a:r>
          </a:p>
          <a:p>
            <a:pPr algn="ctr"/>
            <a:r>
              <a:rPr lang="en-US" sz="1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voice_to_text_task</a:t>
            </a:r>
          </a:p>
          <a:p>
            <a:pPr algn="ctr"/>
            <a:r>
              <a:rPr lang="en-US" sz="1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↓</a:t>
            </a:r>
          </a:p>
          <a:p>
            <a:pPr algn="ctr"/>
            <a:r>
              <a:rPr lang="en-US" sz="1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clinical_understanding_task</a:t>
            </a:r>
          </a:p>
          <a:p>
            <a:pPr algn="ctr"/>
            <a:r>
              <a:rPr lang="en-US" sz="1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↓</a:t>
            </a:r>
          </a:p>
          <a:p>
            <a:pPr algn="ctr"/>
            <a:r>
              <a:rPr lang="en-US" sz="1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rcm_coding_task</a:t>
            </a:r>
          </a:p>
          <a:p>
            <a:pPr algn="ctr"/>
            <a:r>
              <a:rPr lang="en-US" sz="1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↓</a:t>
            </a:r>
          </a:p>
          <a:p>
            <a:pPr algn="ctr"/>
            <a:r>
              <a:rPr lang="en-US" sz="1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front_office_task</a:t>
            </a:r>
          </a:p>
          <a:p>
            <a:pPr algn="ctr"/>
            <a:r>
              <a:rPr lang="en-US" sz="1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↓</a:t>
            </a:r>
          </a:p>
          <a:p>
            <a:pPr algn="ctr"/>
            <a:r>
              <a:rPr lang="en-US" sz="1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compliance_quality_task</a:t>
            </a:r>
          </a:p>
          <a:p>
            <a:pPr algn="ctr"/>
            <a:r>
              <a:rPr lang="en-US" sz="1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↓</a:t>
            </a:r>
          </a:p>
          <a:p>
            <a:pPr algn="ctr"/>
            <a:r>
              <a:rPr lang="en-US" sz="1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document_task</a:t>
            </a:r>
          </a:p>
          <a:p>
            <a:pPr algn="ctr"/>
            <a:r>
              <a:rPr lang="en-US" sz="1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↓</a:t>
            </a:r>
          </a:p>
          <a:p>
            <a:pPr algn="ctr"/>
            <a:r>
              <a:rPr lang="en-US" sz="1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en-IN" sz="16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38914" y="0"/>
            <a:ext cx="4198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AI Medical Scribe/Ambient digital scribe</a:t>
            </a:r>
            <a:endParaRPr lang="en-IN" sz="1350" b="1" dirty="0"/>
          </a:p>
        </p:txBody>
      </p:sp>
    </p:spTree>
    <p:extLst>
      <p:ext uri="{BB962C8B-B14F-4D97-AF65-F5344CB8AC3E}">
        <p14:creationId xmlns:p14="http://schemas.microsoft.com/office/powerpoint/2010/main" val="314215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080" y="279962"/>
            <a:ext cx="7772400" cy="817561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Contd .. Workflow </a:t>
            </a:r>
            <a:endParaRPr lang="en-US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71701" y="2282190"/>
            <a:ext cx="18473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sz="1350" dirty="0"/>
          </a:p>
        </p:txBody>
      </p:sp>
      <p:sp>
        <p:nvSpPr>
          <p:cNvPr id="5" name="Rectangle 4"/>
          <p:cNvSpPr/>
          <p:nvPr/>
        </p:nvSpPr>
        <p:spPr>
          <a:xfrm>
            <a:off x="972820" y="1232282"/>
            <a:ext cx="6972300" cy="5847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IN" sz="1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front_office_task</a:t>
            </a:r>
            <a:endParaRPr lang="en-IN" sz="14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IN" sz="1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Input: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state.rcm_coding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</a:t>
            </a:r>
            <a:r>
              <a:rPr lang="en-IN" sz="1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Actions: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-Checks patient eligibility, payer name, and plan details from front-office context.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-Verifies if prior authorization is required or already present.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-Generates workflow task list and turnaround time estimation.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IN" sz="1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Output: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state.front_office, state.logs.</a:t>
            </a:r>
          </a:p>
          <a:p>
            <a:endParaRPr lang="en-IN" sz="14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IN" sz="1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1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compliance_quality_task</a:t>
            </a:r>
            <a:endParaRPr lang="en-IN" sz="14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</a:t>
            </a:r>
            <a:r>
              <a:rPr lang="en-IN" sz="1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-IN" sz="1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state.front_office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</a:t>
            </a:r>
            <a:r>
              <a:rPr lang="en-IN" sz="1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 </a:t>
            </a:r>
            <a:r>
              <a:rPr lang="en-IN" sz="1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Actions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-Performs PHI redaction and HIPAA compliance validation.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-Runs quality checks on completeness, correctness, and confidentiality.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-Updates phi_redacted_text, hipaa_audit_passed, and adds findings.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</a:t>
            </a:r>
            <a:r>
              <a:rPr lang="en-IN" sz="1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state.compliance_findings, state.logs.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en-IN" sz="1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document_task</a:t>
            </a:r>
            <a:endParaRPr lang="en-IN" sz="14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IN" sz="1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-IN" sz="1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accumulated state data (voice_to_text, clinical_understanding, rcm_coding, front_office, compliance_quality).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IN" sz="1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Actions</a:t>
            </a:r>
            <a:r>
              <a:rPr lang="en-IN" sz="1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-Synthesizes structured EHR-ready documentation.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-Generates formatted output (JSON/PDF) containing patient summary, codes, compliance report, and billing data.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-Finalizes state.structured_output and submission status.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IN" sz="1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IN" sz="1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state.structured_output, state.ehr_submission_status, state.logs.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2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38914" y="0"/>
            <a:ext cx="4198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AI Medical Scribe/Ambient digital scribe</a:t>
            </a:r>
            <a:endParaRPr lang="en-IN" sz="1350" b="1" dirty="0"/>
          </a:p>
        </p:txBody>
      </p:sp>
    </p:spTree>
    <p:extLst>
      <p:ext uri="{BB962C8B-B14F-4D97-AF65-F5344CB8AC3E}">
        <p14:creationId xmlns:p14="http://schemas.microsoft.com/office/powerpoint/2010/main" val="3330020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" y="500560"/>
            <a:ext cx="7772400" cy="817561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71701" y="2282190"/>
            <a:ext cx="18473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sz="1350" dirty="0"/>
          </a:p>
        </p:txBody>
      </p:sp>
      <p:sp>
        <p:nvSpPr>
          <p:cNvPr id="4" name="TextBox 3"/>
          <p:cNvSpPr txBox="1"/>
          <p:nvPr/>
        </p:nvSpPr>
        <p:spPr>
          <a:xfrm>
            <a:off x="2042161" y="2114550"/>
            <a:ext cx="18473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sz="135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610" y="1893952"/>
            <a:ext cx="6081359" cy="43341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38914" y="0"/>
            <a:ext cx="4198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AI Medical Scribe/Ambient digital scribe</a:t>
            </a:r>
            <a:endParaRPr lang="en-IN" sz="1350" b="1" dirty="0"/>
          </a:p>
        </p:txBody>
      </p:sp>
    </p:spTree>
    <p:extLst>
      <p:ext uri="{BB962C8B-B14F-4D97-AF65-F5344CB8AC3E}">
        <p14:creationId xmlns:p14="http://schemas.microsoft.com/office/powerpoint/2010/main" val="1255538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86360" y="279962"/>
            <a:ext cx="7772400" cy="817561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Agents Workflow </a:t>
            </a: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71701" y="2282190"/>
            <a:ext cx="18473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sz="1350" dirty="0"/>
          </a:p>
        </p:txBody>
      </p:sp>
      <p:sp>
        <p:nvSpPr>
          <p:cNvPr id="4" name="TextBox 3"/>
          <p:cNvSpPr txBox="1"/>
          <p:nvPr/>
        </p:nvSpPr>
        <p:spPr>
          <a:xfrm>
            <a:off x="2042161" y="2114550"/>
            <a:ext cx="18473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sz="135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883" y="1635761"/>
            <a:ext cx="6956958" cy="467359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38914" y="0"/>
            <a:ext cx="4198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AI Medical Scribe/Ambient digital scribe</a:t>
            </a:r>
            <a:endParaRPr lang="en-IN" sz="1350" b="1" dirty="0"/>
          </a:p>
        </p:txBody>
      </p:sp>
    </p:spTree>
    <p:extLst>
      <p:ext uri="{BB962C8B-B14F-4D97-AF65-F5344CB8AC3E}">
        <p14:creationId xmlns:p14="http://schemas.microsoft.com/office/powerpoint/2010/main" val="3750067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62022" y="483609"/>
            <a:ext cx="7772400" cy="817561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71701" y="2282190"/>
            <a:ext cx="18473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sz="1350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133534" y="1379757"/>
            <a:ext cx="5429826" cy="48705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</a:t>
            </a:r>
            <a:r>
              <a:rPr lang="en-US" altLang="en-US" sz="1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ameworks:</a:t>
            </a:r>
            <a:r>
              <a:rPr lang="en-US" altLang="en-US" sz="1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CrewAI, LangGraph (agent orchestration &amp; workflow management)</a:t>
            </a:r>
          </a:p>
          <a:p>
            <a:pPr defTabSz="6858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Direct  mocked Audio files is used. But later we can integrate with FastAPI (REST APIs for transcription, note generation, and retrieval)</a:t>
            </a:r>
          </a:p>
          <a:p>
            <a:pPr defTabSz="6858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Now no database is used , It is directly stored as PDF inside folder with timestamp. .But in future we can use Pinecone</a:t>
            </a:r>
          </a:p>
          <a:p>
            <a:pPr defTabSz="6858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 / Visualization: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Streamlit (interactive UI for audio upload, transcription, and note review)</a:t>
            </a:r>
          </a:p>
          <a:p>
            <a:pPr defTabSz="6858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Models: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Claude, AWS Bedrock foundation models (speech-to-text, summarization, medical note generation)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8914" y="0"/>
            <a:ext cx="4198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AI Medical Scribe/Ambient digital scribe</a:t>
            </a:r>
            <a:endParaRPr lang="en-IN" sz="1350" b="1" dirty="0"/>
          </a:p>
        </p:txBody>
      </p:sp>
    </p:spTree>
    <p:extLst>
      <p:ext uri="{BB962C8B-B14F-4D97-AF65-F5344CB8AC3E}">
        <p14:creationId xmlns:p14="http://schemas.microsoft.com/office/powerpoint/2010/main" val="1800732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360680" y="360454"/>
            <a:ext cx="7772400" cy="817561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Roadmap</a:t>
            </a:r>
            <a:endParaRPr lang="en-US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71701" y="2282190"/>
            <a:ext cx="18473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sz="1350" dirty="0"/>
          </a:p>
        </p:txBody>
      </p:sp>
      <p:sp>
        <p:nvSpPr>
          <p:cNvPr id="13" name="TextBox 12"/>
          <p:cNvSpPr txBox="1"/>
          <p:nvPr/>
        </p:nvSpPr>
        <p:spPr>
          <a:xfrm>
            <a:off x="1021774" y="1914837"/>
            <a:ext cx="5828606" cy="32085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with EHR/EMR systems for automated record updates.</a:t>
            </a:r>
          </a:p>
          <a:p>
            <a:pPr marL="214313" indent="-214313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LLM capabilities for multi-language and specialty-specific documentation.</a:t>
            </a:r>
          </a:p>
          <a:p>
            <a:pPr marL="214313" indent="-214313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predictive analytics for claim success and revenue optimization.</a:t>
            </a:r>
          </a:p>
          <a:p>
            <a:pPr marL="214313" indent="-214313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secure cloud deployment with role-based access control.</a:t>
            </a:r>
          </a:p>
          <a:p>
            <a:pPr marL="214313" indent="-214313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 dataset sources for continuous model fine-tuning and compliance benchmarking.</a:t>
            </a:r>
          </a:p>
          <a:p>
            <a:endParaRPr lang="en-IN" sz="1350" dirty="0"/>
          </a:p>
        </p:txBody>
      </p:sp>
      <p:sp>
        <p:nvSpPr>
          <p:cNvPr id="9" name="TextBox 8"/>
          <p:cNvSpPr txBox="1"/>
          <p:nvPr/>
        </p:nvSpPr>
        <p:spPr>
          <a:xfrm>
            <a:off x="6038914" y="0"/>
            <a:ext cx="4198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AI Medical Scribe/Ambient digital scribe</a:t>
            </a:r>
            <a:endParaRPr lang="en-IN" sz="1350" b="1" dirty="0"/>
          </a:p>
        </p:txBody>
      </p:sp>
    </p:spTree>
    <p:extLst>
      <p:ext uri="{BB962C8B-B14F-4D97-AF65-F5344CB8AC3E}">
        <p14:creationId xmlns:p14="http://schemas.microsoft.com/office/powerpoint/2010/main" val="592455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7" name="Google Shape;2137;p49"/>
          <p:cNvSpPr txBox="1">
            <a:spLocks noGrp="1"/>
          </p:cNvSpPr>
          <p:nvPr>
            <p:ph type="title"/>
          </p:nvPr>
        </p:nvSpPr>
        <p:spPr>
          <a:xfrm>
            <a:off x="3026449" y="2729462"/>
            <a:ext cx="3973791" cy="91810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algn="l">
              <a:buClr>
                <a:srgbClr val="000000"/>
              </a:buClr>
              <a:buSzPts val="5000"/>
            </a:pPr>
            <a:r>
              <a:rPr lang="en-US" sz="3750" b="1" dirty="0" smtClean="0">
                <a:solidFill>
                  <a:srgbClr val="7030A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/>
            </a:r>
            <a:br>
              <a:rPr lang="en-US" sz="3750" b="1" dirty="0" smtClean="0">
                <a:solidFill>
                  <a:srgbClr val="7030A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</a:br>
            <a:r>
              <a:rPr lang="en-US" sz="3750" b="1" dirty="0" smtClean="0">
                <a:solidFill>
                  <a:srgbClr val="7030A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Thank </a:t>
            </a:r>
            <a:r>
              <a:rPr lang="en-US" sz="3750" b="1" dirty="0">
                <a:solidFill>
                  <a:srgbClr val="7030A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you</a:t>
            </a:r>
            <a:endParaRPr dirty="0">
              <a:solidFill>
                <a:srgbClr val="7030A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38914" y="0"/>
            <a:ext cx="4198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AI Medical Scribe/Ambient digital scribe</a:t>
            </a:r>
            <a:endParaRPr lang="en-IN" sz="135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798</TotalTime>
  <Words>908</Words>
  <Application>Microsoft Office PowerPoint</Application>
  <PresentationFormat>On-screen Show (4:3)</PresentationFormat>
  <Paragraphs>114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Poppins SemiBold</vt:lpstr>
      <vt:lpstr>Wingdings</vt:lpstr>
      <vt:lpstr>Calibri</vt:lpstr>
      <vt:lpstr>Arial</vt:lpstr>
      <vt:lpstr>Wingdings 3</vt:lpstr>
      <vt:lpstr>Times New Roman</vt:lpstr>
      <vt:lpstr>Trebuchet MS</vt:lpstr>
      <vt:lpstr>Facet</vt:lpstr>
      <vt:lpstr>GenAI Based RCM Front Office Operations: Patient Doctor Interactions</vt:lpstr>
      <vt:lpstr>PowerPoint Presentation</vt:lpstr>
      <vt:lpstr>Agentic AI Workflow With Agent</vt:lpstr>
      <vt:lpstr>Contd .. Workflow </vt:lpstr>
      <vt:lpstr>System Architecture Overview</vt:lpstr>
      <vt:lpstr>Agents Workflow Overview</vt:lpstr>
      <vt:lpstr>Technical Stack</vt:lpstr>
      <vt:lpstr>Future Roadmap</vt:lpstr>
      <vt:lpstr> 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Rise Beyond.</dc:title>
  <dc:creator>Praveen Chowdary Tummala</dc:creator>
  <cp:lastModifiedBy>Satya Prasanna Raghrav</cp:lastModifiedBy>
  <cp:revision>50</cp:revision>
  <dcterms:created xsi:type="dcterms:W3CDTF">2014-10-08T23:03:32Z</dcterms:created>
  <dcterms:modified xsi:type="dcterms:W3CDTF">2026-01-08T13:15:38Z</dcterms:modified>
</cp:coreProperties>
</file>